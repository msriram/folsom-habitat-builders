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57" r:id="rId4"/>
    <p:sldId id="258" r:id="rId5"/>
    <p:sldId id="259" r:id="rId6"/>
    <p:sldId id="262" r:id="rId7"/>
    <p:sldId id="261" r:id="rId8"/>
    <p:sldId id="266" r:id="rId9"/>
    <p:sldId id="260" r:id="rId10"/>
    <p:sldId id="264" r:id="rId11"/>
    <p:sldId id="263" r:id="rId12"/>
    <p:sldId id="265" r:id="rId13"/>
    <p:sldId id="271" r:id="rId14"/>
    <p:sldId id="267" r:id="rId15"/>
    <p:sldId id="269" r:id="rId16"/>
    <p:sldId id="268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31"/>
    <p:restoredTop sz="94610"/>
  </p:normalViewPr>
  <p:slideViewPr>
    <p:cSldViewPr snapToGrid="0" snapToObjects="1">
      <p:cViewPr>
        <p:scale>
          <a:sx n="238" d="100"/>
          <a:sy n="238" d="100"/>
        </p:scale>
        <p:origin x="189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10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Welcome parents, introduce the season, make it clear this is a discussion deck not a final contract. Emphasize that we are choosing Founders Edition with SPIKE Prime, not Future Edition with the AI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set expectations: this meeting should end with practical decisions, not just inspiration.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we will not design final mission routes from predictions. We wait for official rulebook and then build the real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earlier role confusion: Future has the named roles, Founders can use similar internal roles but the robot must act autonomously.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light, fun slide. Let the kids feel ownership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Dec/Jan is a placeholder. The exact NorCal dates and fees are not final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segue from parent logistics to the kids’ actual weekly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parents to agree on a budget cap and reimbursement method. Mention that we are assuming existing SPIKE Prime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gentle but clear. Adult help is welcome, adult-built robot/project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no permanent silos. Judges can ask any child about any part of the season.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this into a parent sign-up list after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reinforces high-level season goals, not detailed mission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deliberately practical. Send the deck after the parent meeting so people have the source list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specific decisions and sign-up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LNo0lyXJ1_U?feature=oembe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y.firstinspires.org/Dashboard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sriram.github.io/folsom-fireflies/index.html" TargetMode="External"/><Relationship Id="rId5" Type="http://schemas.openxmlformats.org/officeDocument/2006/relationships/hyperlink" Target="https://www.firstinspires.org/resources/library/fll/season-materials" TargetMode="External"/><Relationship Id="rId4" Type="http://schemas.openxmlformats.org/officeDocument/2006/relationships/hyperlink" Target="https://www.firstinspires.org/programs/cost-and-registration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bright_warmly_lit_indoor_scene_of_a_group_aroun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532120" cy="6858000"/>
          </a:xfrm>
          <a:prstGeom prst="rect">
            <a:avLst/>
          </a:prstGeom>
          <a:solidFill>
            <a:srgbClr val="FFF8E7">
              <a:alpha val="97000"/>
            </a:srgbClr>
          </a:solidFill>
          <a:ln w="12700">
            <a:solidFill>
              <a:srgbClr val="FFF8E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658368" y="59436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B4332"/>
          </a:solidFill>
          <a:ln w="12700">
            <a:solidFill>
              <a:srgbClr val="1B433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31520" y="67665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Parent Opening Day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8368" y="1298448"/>
            <a:ext cx="4480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B4332"/>
                </a:solidFill>
              </a:rPr>
              <a:t>FLL Challenge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B4332"/>
                </a:solidFill>
              </a:rPr>
              <a:t>BIOGLOW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85800" y="2985516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3352A"/>
                </a:solidFill>
              </a:rPr>
              <a:t>Founders Edition planning discussion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3352A"/>
                </a:solidFill>
              </a:rPr>
              <a:t>for 5-student team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3703320"/>
            <a:ext cx="2926080" cy="0"/>
          </a:xfrm>
          <a:prstGeom prst="line">
            <a:avLst/>
          </a:prstGeom>
          <a:noFill/>
          <a:ln w="38100">
            <a:solidFill>
              <a:srgbClr val="F4B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85800" y="3977640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A5A40"/>
                </a:solidFill>
              </a:rPr>
              <a:t>Today we align on name, schedule, roles, cost, parent support, and meeting rhythm.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59618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Team name: Folsom Fireflies • Website live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A2F093-592C-EA77-6BC6-67E678EC0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33A39A-5D38-8702-BA1D-E66479F91E3B}"/>
              </a:ext>
            </a:extLst>
          </p:cNvPr>
          <p:cNvSpPr txBox="1"/>
          <p:nvPr/>
        </p:nvSpPr>
        <p:spPr>
          <a:xfrm>
            <a:off x="658368" y="384048"/>
            <a:ext cx="35173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0F5038"/>
                </a:solidFill>
              </a:rPr>
              <a:t>FLL </a:t>
            </a:r>
            <a:r>
              <a:rPr lang="en-US" sz="2400" b="1" dirty="0">
                <a:solidFill>
                  <a:srgbClr val="0F5038"/>
                </a:solidFill>
              </a:rPr>
              <a:t>Challenge Overview</a:t>
            </a:r>
            <a:endParaRPr sz="2400" b="1" dirty="0">
              <a:solidFill>
                <a:srgbClr val="0F5038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AE94A2-7679-222A-13B7-CEA7B31799B4}"/>
              </a:ext>
            </a:extLst>
          </p:cNvPr>
          <p:cNvSpPr txBox="1"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">
                <a:solidFill>
                  <a:srgbClr val="52675C"/>
                </a:solidFill>
              </a:rPr>
              <a:t>BIOGLOW Founders Edition • Parent Kickoff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46AB8C-01BF-F318-A51A-E24EC314AB31}"/>
              </a:ext>
            </a:extLst>
          </p:cNvPr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>
                <a:solidFill>
                  <a:srgbClr val="0F5038"/>
                </a:solidFill>
              </a:rPr>
              <a:t>16</a:t>
            </a:r>
          </a:p>
        </p:txBody>
      </p:sp>
      <p:pic>
        <p:nvPicPr>
          <p:cNvPr id="22" name="Online Media 3" descr="BIOGLOW - FIRST LEGO LEAGUE - 2026-2027 Trailer Breakdown &amp; Predictions">
            <a:hlinkClick r:id="" action="ppaction://media"/>
            <a:extLst>
              <a:ext uri="{FF2B5EF4-FFF2-40B4-BE49-F238E27FC236}">
                <a16:creationId xmlns:a16="http://schemas.microsoft.com/office/drawing/2014/main" id="{0C85752A-5078-9E1F-147F-600A12B71FF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77681" y="880982"/>
            <a:ext cx="9836637" cy="55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8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</a:rPr>
              <a:t>Opening-day decisions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56B"/>
                </a:solidFill>
              </a:rPr>
              <a:t>What we need to agree on before the season gets busy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ECF4E7"/>
          </a:solidFill>
          <a:ln w="12700">
            <a:solidFill>
              <a:srgbClr val="A3B18A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87552" y="17647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</a:rPr>
              <a:t>Challenge Level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12140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3352A"/>
                </a:solidFill>
              </a:rPr>
              <a:t>Founders Edition vs Future Edition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ECF4E7"/>
          </a:solidFill>
          <a:ln w="12700">
            <a:solidFill>
              <a:srgbClr val="A3B18A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03420" y="17236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</a:rPr>
              <a:t>Team name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07992" y="212140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3352A"/>
                </a:solidFill>
              </a:rPr>
              <a:t>Dashboard, website, related innovation project, software demo, field trip, t-shirts, and  labels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63840" y="16002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ECF4E7"/>
          </a:solidFill>
          <a:ln w="12700">
            <a:solidFill>
              <a:srgbClr val="A3B18A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028432" y="17647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</a:rPr>
              <a:t>Schedule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12140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3352A"/>
                </a:solidFill>
              </a:rPr>
              <a:t>Pick regular weekly times and parent backup coverage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FF2CC"/>
          </a:solidFill>
          <a:ln w="12700">
            <a:solidFill>
              <a:srgbClr val="F4B400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87552" y="35935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</a:rPr>
              <a:t>Budget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7552" y="395020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3352A"/>
                </a:solidFill>
              </a:rPr>
              <a:t>Agree expected cost split and optional extras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34290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FF2CC"/>
          </a:solidFill>
          <a:ln w="12700">
            <a:solidFill>
              <a:srgbClr val="F4B400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07992" y="35935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</a:rPr>
              <a:t>Parent + Student Roles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07992" y="3950208"/>
            <a:ext cx="2606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3352A"/>
                </a:solidFill>
              </a:rPr>
              <a:t>2 main parent coaches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23352A"/>
                </a:solidFill>
              </a:rPr>
              <a:t>Optional sibling coach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23352A"/>
                </a:solidFill>
              </a:rPr>
              <a:t>Student roles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63840" y="34290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FF2CC"/>
          </a:solidFill>
          <a:ln w="12700">
            <a:solidFill>
              <a:srgbClr val="F4B400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028432" y="35935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</a:rPr>
              <a:t>Logistics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28432" y="395020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3352A"/>
                </a:solidFill>
              </a:rPr>
              <a:t>Communication, attendance, food, transportation and safety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" y="1572768"/>
            <a:ext cx="109728" cy="315468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77824" y="52578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A5A40"/>
                </a:solidFill>
              </a:rPr>
              <a:t>Desired outcome: parents leave knowing how the season works and exactly how they can help without taking over the kids’ work.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56B"/>
                </a:solidFill>
              </a:rPr>
              <a:t>BIOGLOW Founders Edition • Parent Kickoff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4332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</a:rPr>
              <a:t>Confirmed season facts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56B"/>
                </a:solidFill>
              </a:rPr>
              <a:t>Use official sources for rules; teaser videos are useful but not binding</a:t>
            </a:r>
            <a:endParaRPr lang="en-US" sz="1150" dirty="0"/>
          </a:p>
        </p:txBody>
      </p:sp>
      <p:pic>
        <p:nvPicPr>
          <p:cNvPr id="4" name="Image 0" descr="/mnt/data/roadmap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" y="1618488"/>
            <a:ext cx="310896" cy="310896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234440" y="16002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332"/>
                </a:solidFill>
              </a:rPr>
              <a:t>BIOGLOW kickoff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234440" y="191109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3352A"/>
                </a:solidFill>
              </a:rPr>
              <a:t>Tuesday, Aug 4, 2026 • 9:00 AM Pacific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749808" y="2551176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234440" y="25328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332"/>
                </a:solidFill>
              </a:rPr>
              <a:t>Spike Kit Edition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34440" y="284378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3352A"/>
                </a:solidFill>
              </a:rPr>
              <a:t>SPIKE Prime robot, autonomous missions, 2½-minute matches</a:t>
            </a:r>
          </a:p>
          <a:p>
            <a:pPr marL="0" indent="0">
              <a:buNone/>
            </a:pPr>
            <a:r>
              <a:rPr lang="en-US" sz="1120" dirty="0"/>
              <a:t>SPIKE AI Learning Kit, remote control, interactive missions</a:t>
            </a:r>
          </a:p>
        </p:txBody>
      </p:sp>
      <p:sp>
        <p:nvSpPr>
          <p:cNvPr id="11" name="Shape 8"/>
          <p:cNvSpPr/>
          <p:nvPr/>
        </p:nvSpPr>
        <p:spPr>
          <a:xfrm>
            <a:off x="749808" y="3483864"/>
            <a:ext cx="310896" cy="310896"/>
          </a:xfrm>
          <a:prstGeom prst="ellipse">
            <a:avLst/>
          </a:prstGeom>
          <a:solidFill>
            <a:srgbClr val="A3B1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234440" y="34655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332"/>
                </a:solidFill>
              </a:rPr>
              <a:t>Theme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234440" y="37764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3352A"/>
                </a:solidFill>
              </a:rPr>
              <a:t>Biodiversity and healthy balance between people and nature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749808" y="4416552"/>
            <a:ext cx="310896" cy="31089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234440" y="439826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332"/>
                </a:solidFill>
              </a:rPr>
              <a:t>Local path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234440" y="47091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3352A"/>
                </a:solidFill>
              </a:rPr>
              <a:t>NorCal Founders registration expected around Sep 2026; exact events/fees TBD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621792" y="6144768"/>
            <a:ext cx="5897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56B"/>
                </a:solidFill>
              </a:rPr>
              <a:t>Sources: FIRST Game &amp; Season; FIRST Cost &amp; Registration; FIRST LEGO League global overview; NorCal FLL Challenge news.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56B"/>
                </a:solidFill>
              </a:rPr>
              <a:t>BIOGLOW Founders Edition • Parent Kickoff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33856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4332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</a:rPr>
              <a:t>Challenge Level to be picked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56B"/>
                </a:solidFill>
              </a:rPr>
              <a:t>We already have SPIKE Prime and extra SPIKE Essential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800600" cy="4279392"/>
          </a:xfrm>
          <a:prstGeom prst="roundRect">
            <a:avLst>
              <a:gd name="adj" fmla="val 2697"/>
            </a:avLst>
          </a:prstGeom>
          <a:solidFill>
            <a:srgbClr val="E9F3E5"/>
          </a:solidFill>
          <a:ln w="12700">
            <a:solidFill>
              <a:srgbClr val="A3B18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05840" y="1719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</a:rPr>
              <a:t>Founders Edition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886200" y="1755648"/>
            <a:ext cx="1143000" cy="237744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fit for 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377440"/>
            <a:ext cx="39776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3352A"/>
                </a:solidFill>
              </a:rPr>
              <a:t>• Autonomous robot game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3352A"/>
                </a:solidFill>
              </a:rPr>
              <a:t>• Classic FLL Challenge judging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3352A"/>
                </a:solidFill>
              </a:rPr>
              <a:t>• Strong path from Explore to Challenge</a:t>
            </a:r>
            <a:endParaRPr lang="en-US" sz="1500" dirty="0"/>
          </a:p>
          <a:p>
            <a:r>
              <a:rPr lang="en-US" sz="1500" dirty="0">
                <a:solidFill>
                  <a:schemeClr val="accent6"/>
                </a:solidFill>
              </a:rPr>
              <a:t>• SPIKE Prime works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417320"/>
            <a:ext cx="4800600" cy="4279392"/>
          </a:xfrm>
          <a:prstGeom prst="roundRect">
            <a:avLst>
              <a:gd name="adj" fmla="val 2697"/>
            </a:avLst>
          </a:prstGeom>
          <a:solidFill>
            <a:srgbClr val="EDF6FA"/>
          </a:solidFill>
          <a:ln w="12700">
            <a:solidFill>
              <a:srgbClr val="BDE0FE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20840" y="1719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D5C"/>
                </a:solidFill>
              </a:rPr>
              <a:t>Future Edition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26880" y="1755648"/>
            <a:ext cx="1261872" cy="237744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Not ideal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39128" y="2377440"/>
            <a:ext cx="39776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3352A"/>
                </a:solidFill>
              </a:rPr>
              <a:t>• Uses Computer Science &amp; AI hardware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3352A"/>
                </a:solidFill>
              </a:rPr>
              <a:t>• Includes official Driver / Operator / Technician / Specialist roles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3352A"/>
                </a:solidFill>
              </a:rPr>
              <a:t>• More interactive, alliance-style play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3352A"/>
                </a:solidFill>
              </a:rPr>
              <a:t>• New format with more unknowns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0000"/>
                </a:solidFill>
              </a:rPr>
              <a:t>• SPIKE Computer Science &amp; AI Kit needed</a:t>
            </a:r>
          </a:p>
        </p:txBody>
      </p:sp>
      <p:sp>
        <p:nvSpPr>
          <p:cNvPr id="12" name="Shape 10"/>
          <p:cNvSpPr/>
          <p:nvPr/>
        </p:nvSpPr>
        <p:spPr>
          <a:xfrm>
            <a:off x="6080760" y="1463040"/>
            <a:ext cx="0" cy="3931920"/>
          </a:xfrm>
          <a:prstGeom prst="line">
            <a:avLst/>
          </a:prstGeom>
          <a:noFill/>
          <a:ln w="38100">
            <a:solidFill>
              <a:srgbClr val="F4B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97280" y="580644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4332"/>
                </a:solidFill>
              </a:rPr>
              <a:t>Decision to confirm today: Founders Edition unless the official release reveals a major issue.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1792" y="6144768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56B"/>
                </a:solidFill>
              </a:rPr>
              <a:t>Sources: FIRST LEGO League global overview; FIRST Cost &amp; Registration.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56B"/>
                </a:solidFill>
              </a:rPr>
              <a:t>BIOGLOW Founders Edition • Parent Kickoff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4332"/>
                </a:solidFill>
              </a:rPr>
              <a:t>04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7B8ABE-E9B5-FA0A-6A5E-C4528168C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506" y="4138582"/>
            <a:ext cx="3212587" cy="14438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62AF7A2-CAF8-EDBA-5173-F11E36FEF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113176"/>
            <a:ext cx="3886200" cy="14875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</a:rPr>
              <a:t>Team name to be confirmed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/>
              <a:t>Relevant to theme, and has potential for innovation project</a:t>
            </a:r>
          </a:p>
        </p:txBody>
      </p:sp>
      <p:pic>
        <p:nvPicPr>
          <p:cNvPr id="4" name="Image 0" descr="/mnt/data/roadmap_square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7320"/>
            <a:ext cx="4937760" cy="4937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147114" y="635508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3A5A40"/>
                </a:solidFill>
              </a:rPr>
              <a:t>Now use the name consistently on the website, FIRST dashboard, notebook, shirts, robot labels, and judging materials.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56B"/>
                </a:solidFill>
              </a:rPr>
              <a:t>BIOGLOW Founders Edition • Parent Kickoff</a:t>
            </a:r>
            <a:endParaRPr lang="en-US" sz="75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5001ACE-D09D-A867-79C3-CA9C6DC79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589565"/>
              </p:ext>
            </p:extLst>
          </p:nvPr>
        </p:nvGraphicFramePr>
        <p:xfrm>
          <a:off x="5181600" y="1275474"/>
          <a:ext cx="6697980" cy="4443825"/>
        </p:xfrm>
        <a:graphic>
          <a:graphicData uri="http://schemas.openxmlformats.org/drawingml/2006/table">
            <a:tbl>
              <a:tblPr/>
              <a:tblGrid>
                <a:gridCol w="1643366">
                  <a:extLst>
                    <a:ext uri="{9D8B030D-6E8A-4147-A177-3AD203B41FA5}">
                      <a16:colId xmlns:a16="http://schemas.microsoft.com/office/drawing/2014/main" val="3267326220"/>
                    </a:ext>
                  </a:extLst>
                </a:gridCol>
                <a:gridCol w="2835516">
                  <a:extLst>
                    <a:ext uri="{9D8B030D-6E8A-4147-A177-3AD203B41FA5}">
                      <a16:colId xmlns:a16="http://schemas.microsoft.com/office/drawing/2014/main" val="3527080077"/>
                    </a:ext>
                  </a:extLst>
                </a:gridCol>
                <a:gridCol w="2219098">
                  <a:extLst>
                    <a:ext uri="{9D8B030D-6E8A-4147-A177-3AD203B41FA5}">
                      <a16:colId xmlns:a16="http://schemas.microsoft.com/office/drawing/2014/main" val="310300505"/>
                    </a:ext>
                  </a:extLst>
                </a:gridCol>
              </a:tblGrid>
              <a:tr h="96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Team name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Biodiversity relevance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Global challenge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778232"/>
                  </a:ext>
                </a:extLst>
              </a:tr>
              <a:tr h="475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Folsom Fireflies</a:t>
                      </a:r>
                      <a:endParaRPr lang="en-US" sz="1050" dirty="0"/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Fireflies decline signal habitat loss, pesticide exposure and excessive artificial light.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dirty="0"/>
                        <a:t>Light pollution</a:t>
                      </a:r>
                      <a:r>
                        <a:rPr lang="en-US" sz="700" dirty="0"/>
                        <a:t> disrupts insects, birds, bats and other nocturnal wildlife.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753063"/>
                  </a:ext>
                </a:extLst>
              </a:tr>
              <a:tr h="43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Folsom </a:t>
                      </a:r>
                      <a:r>
                        <a:rPr lang="en-US" sz="1050" b="1" dirty="0" err="1"/>
                        <a:t>BioBeacons</a:t>
                      </a:r>
                      <a:endParaRPr lang="en-US" sz="1050" dirty="0"/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A beacon helps people notice and understand biodiversity that is normally difficult to observe.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Communities often lack affordable, local biodiversity information needed to protect species.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406941"/>
                  </a:ext>
                </a:extLst>
              </a:tr>
              <a:tr h="349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Folsom Wild Sparks</a:t>
                      </a:r>
                      <a:endParaRPr lang="en-US" sz="1050" dirty="0"/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“Sparks” can represent both the energy of wildlife and the ecological damage caused by wildfires.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Increasingly severe wildfires destroy habitats, fragment ecosystems and make natural recovery difficult.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358841"/>
                  </a:ext>
                </a:extLst>
              </a:tr>
              <a:tr h="43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Folsom Eco Explorers</a:t>
                      </a:r>
                      <a:endParaRPr lang="en-US" sz="1050" dirty="0"/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Biodiversity protection begins with observing, identifying and documenting local species.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Many children and communities do not recognize the plants and animals living around them, making conservation harder.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347512"/>
                  </a:ext>
                </a:extLst>
              </a:tr>
              <a:tr h="475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Folsom Monarchs</a:t>
                      </a:r>
                      <a:endParaRPr lang="en-US" sz="1050" dirty="0"/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Monarch butterflies depend on milkweed and connected migration habitats across North America.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Habitat loss, pesticide use and disappearance of native milkweed threaten monarch populations.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639817"/>
                  </a:ext>
                </a:extLst>
              </a:tr>
              <a:tr h="391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Folsom River Otters</a:t>
                      </a:r>
                      <a:endParaRPr lang="en-US" sz="1050"/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River otters depend on healthy rivers, fish populations and protected riverbank habitats.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Water pollution, plastics and damaged riparian habitats reduce aquatic biodiversity.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413891"/>
                  </a:ext>
                </a:extLst>
              </a:tr>
              <a:tr h="391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Folsom </a:t>
                      </a:r>
                      <a:r>
                        <a:rPr lang="en-US" sz="1050" b="1" dirty="0" err="1"/>
                        <a:t>Glowhawks</a:t>
                      </a:r>
                      <a:endParaRPr lang="en-US" sz="1050" dirty="0"/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Hawks help balance ecosystems by controlling rodent populations. “Glow” connects the name to BIOGLOW and nighttime urban environments.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Birds are injured by window collisions and affected by city lighting.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5510"/>
                  </a:ext>
                </a:extLst>
              </a:tr>
              <a:tr h="43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Folsom Nature Ninjas</a:t>
                      </a:r>
                      <a:endParaRPr lang="en-US" sz="1050" dirty="0"/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Nature “ninjas” quietly identify and defend ecosystems from threats.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Invasive plants and animals can spread before communities recognize them.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687792"/>
                  </a:ext>
                </a:extLst>
              </a:tr>
              <a:tr h="43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Folsom Habitat Heroes</a:t>
                      </a:r>
                      <a:endParaRPr lang="en-US" sz="1050" dirty="0"/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The name directly represents protecting and restoring places where species live.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Roads, buildings and fences divide habitats and prevent animals from safely finding food, water and mates.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960541"/>
                  </a:ext>
                </a:extLst>
              </a:tr>
              <a:tr h="43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Folsom </a:t>
                      </a:r>
                      <a:r>
                        <a:rPr lang="en-US" sz="1050" b="1" dirty="0" err="1"/>
                        <a:t>BioBots</a:t>
                      </a:r>
                      <a:endParaRPr lang="en-US" sz="1050" dirty="0"/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It combines biology and robotics—the two central ideas of the season and the team’s technical work.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Scientists cannot manually inspect every habitat, count every species or identify every invasive plant.</a:t>
                      </a:r>
                    </a:p>
                  </a:txBody>
                  <a:tcPr marL="14082" marR="14082" marT="7041" marB="7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807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</a:rPr>
              <a:t>High-level Schedule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56B"/>
                </a:solidFill>
              </a:rPr>
              <a:t>A high-level timeline we can adjust after NorCal posts events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3108960"/>
            <a:ext cx="9464040" cy="0"/>
          </a:xfrm>
          <a:prstGeom prst="line">
            <a:avLst/>
          </a:prstGeom>
          <a:noFill/>
          <a:ln w="50800">
            <a:solidFill>
              <a:srgbClr val="A3B1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13232" y="2907792"/>
            <a:ext cx="402336" cy="402336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1148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</a:rPr>
              <a:t>Aug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" y="35478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352A"/>
                </a:solidFill>
              </a:rPr>
              <a:t>Official release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" y="395020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56B"/>
                </a:solidFill>
              </a:rPr>
              <a:t>Rulebook, missions, project prompt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615184" y="2907792"/>
            <a:ext cx="402336" cy="4023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313432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</a:rPr>
              <a:t>Aug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39112" y="35478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352A"/>
                </a:solidFill>
              </a:rPr>
              <a:t>Build models + choose project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75104" y="395020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56B"/>
                </a:solidFill>
              </a:rPr>
              <a:t>Read rules, assemble field, research problems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517136" y="2907792"/>
            <a:ext cx="402336" cy="402336"/>
          </a:xfrm>
          <a:prstGeom prst="ellipse">
            <a:avLst/>
          </a:prstGeom>
          <a:solidFill>
            <a:srgbClr val="A3B1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215384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</a:rPr>
              <a:t>Sep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41064" y="35478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352A"/>
                </a:solidFill>
              </a:rPr>
              <a:t>Chassis + first runs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77056" y="395020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56B"/>
                </a:solidFill>
              </a:rPr>
              <a:t>2–3 short mission runs, first expert interview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419088" y="2907792"/>
            <a:ext cx="402336" cy="40233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117336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</a:rPr>
              <a:t>Oct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43016" y="35478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352A"/>
                </a:solidFill>
              </a:rPr>
              <a:t>Prototype + full match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779008" y="395020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56B"/>
                </a:solidFill>
              </a:rPr>
              <a:t>Project prototype, robot reliability data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8321040" y="2907792"/>
            <a:ext cx="402336" cy="40233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019288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</a:rPr>
              <a:t>Nov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44968" y="35478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352A"/>
                </a:solidFill>
              </a:rPr>
              <a:t>Mock tournament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80960" y="395020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56B"/>
                </a:solidFill>
              </a:rPr>
              <a:t>Practice judging + 3 timed matches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0222992" y="2907792"/>
            <a:ext cx="402336" cy="402336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92124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</a:rPr>
              <a:t>Dec/Jan?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46920" y="35478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352A"/>
                </a:solidFill>
              </a:rPr>
              <a:t>Qualifier window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582912" y="395020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56B"/>
                </a:solidFill>
              </a:rPr>
              <a:t>Exact NorCal schedule TBD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960120" y="5303520"/>
            <a:ext cx="10287000" cy="530352"/>
          </a:xfrm>
          <a:prstGeom prst="roundRect">
            <a:avLst>
              <a:gd name="adj" fmla="val 13793"/>
            </a:avLst>
          </a:prstGeom>
          <a:solidFill>
            <a:srgbClr val="FFF2CC"/>
          </a:solidFill>
          <a:ln w="12700">
            <a:solidFill>
              <a:srgbClr val="F4B400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143000" y="545896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</a:rPr>
              <a:t>Parent decision today: pick regular meeting days and a backup adult for each session.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56B"/>
                </a:solidFill>
              </a:rPr>
              <a:t>BIOGLOW Founders Edition • Parent Kickoff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4332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</a:rPr>
              <a:t>Meeting Schedule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56B"/>
                </a:solidFill>
              </a:rPr>
              <a:t>Every meetup should end with a demo, a notebook update, and one next action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2331720" cy="2816352"/>
          </a:xfrm>
          <a:prstGeom prst="roundRect">
            <a:avLst>
              <a:gd name="adj" fmla="val 5098"/>
            </a:avLst>
          </a:prstGeom>
          <a:solidFill>
            <a:srgbClr val="FFF5DA"/>
          </a:solidFill>
          <a:ln w="19050">
            <a:solidFill>
              <a:srgbClr val="F4B400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69848" y="1828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400"/>
                </a:solidFill>
              </a:rPr>
              <a:t>10 min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9848" y="2404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4332"/>
                </a:solidFill>
              </a:rPr>
              <a:t>Stand-up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24712" y="290779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3352A"/>
                </a:solidFill>
              </a:rPr>
              <a:t>Goals, attendance, Core Values check-in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03320" y="1600200"/>
            <a:ext cx="2331720" cy="2816352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9050">
            <a:solidFill>
              <a:srgbClr val="2A9D8F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904488" y="1828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</a:rPr>
              <a:t>35 min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04488" y="2404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4332"/>
                </a:solidFill>
              </a:rPr>
              <a:t>Robot work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959352" y="290779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3352A"/>
                </a:solidFill>
              </a:rPr>
              <a:t>Chassis, code, attachments, mission tests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37960" y="1600200"/>
            <a:ext cx="2331720" cy="2816352"/>
          </a:xfrm>
          <a:prstGeom prst="roundRect">
            <a:avLst>
              <a:gd name="adj" fmla="val 5098"/>
            </a:avLst>
          </a:prstGeom>
          <a:solidFill>
            <a:srgbClr val="FFF5DA"/>
          </a:solidFill>
          <a:ln w="19050">
            <a:solidFill>
              <a:srgbClr val="E76F51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739128" y="1828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6F51"/>
                </a:solidFill>
              </a:rPr>
              <a:t>35 min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39128" y="2404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4332"/>
                </a:solidFill>
              </a:rPr>
              <a:t>Project work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793992" y="290779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3352A"/>
                </a:solidFill>
              </a:rPr>
              <a:t>Research, interviews, prototype, presentation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72600" y="1600200"/>
            <a:ext cx="2331720" cy="2816352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9050">
            <a:solidFill>
              <a:srgbClr val="1B4332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573768" y="1828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</a:rPr>
              <a:t>10 min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73768" y="2404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4332"/>
                </a:solidFill>
              </a:rPr>
              <a:t>Demo + record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28632" y="290779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3352A"/>
                </a:solidFill>
              </a:rPr>
              <a:t>Show progress, log failures, assign next step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5840" y="4892040"/>
            <a:ext cx="9966960" cy="0"/>
          </a:xfrm>
          <a:prstGeom prst="line">
            <a:avLst/>
          </a:prstGeom>
          <a:noFill/>
          <a:ln w="38100">
            <a:solidFill>
              <a:srgbClr val="A3B1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234440" y="52578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</a:rPr>
              <a:t>Default cadence: 90 minutes weekly in August/September; add optional weekend practice closer to tournament.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56B"/>
                </a:solidFill>
              </a:rPr>
              <a:t>BIOGLOW Founders Edition • Parent Kickoff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4332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</a:rPr>
              <a:t>Budget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56B"/>
                </a:solidFill>
              </a:rPr>
              <a:t>Keep the budget transparent and separate required vs optional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914400" cy="2286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74520" y="1572768"/>
            <a:ext cx="2179320" cy="2286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274820" y="1572768"/>
            <a:ext cx="688850" cy="2286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12080" y="1572768"/>
            <a:ext cx="3840480" cy="2286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914400" cy="530352"/>
          </a:xfrm>
          <a:prstGeom prst="rect">
            <a:avLst/>
          </a:prstGeom>
          <a:solidFill>
            <a:srgbClr val="FFF5DA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205740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</a:rPr>
              <a:t>Required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874520" y="1947672"/>
            <a:ext cx="2179320" cy="530352"/>
          </a:xfrm>
          <a:prstGeom prst="rect">
            <a:avLst/>
          </a:prstGeom>
          <a:solidFill>
            <a:srgbClr val="FFF5DA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938528" y="2057400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0000"/>
                </a:solidFill>
              </a:rPr>
              <a:t>FIRST national team registration</a:t>
            </a:r>
          </a:p>
        </p:txBody>
      </p:sp>
      <p:sp>
        <p:nvSpPr>
          <p:cNvPr id="12" name="Shape 10"/>
          <p:cNvSpPr/>
          <p:nvPr/>
        </p:nvSpPr>
        <p:spPr>
          <a:xfrm>
            <a:off x="4274820" y="1947672"/>
            <a:ext cx="688850" cy="530352"/>
          </a:xfrm>
          <a:prstGeom prst="rect">
            <a:avLst/>
          </a:prstGeom>
          <a:solidFill>
            <a:srgbClr val="FFF5DA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361688" y="205740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</a:rPr>
              <a:t>$285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12080" y="1947672"/>
            <a:ext cx="3840480" cy="530352"/>
          </a:xfrm>
          <a:prstGeom prst="rect">
            <a:avLst/>
          </a:prstGeom>
          <a:solidFill>
            <a:srgbClr val="FFF5DA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276088" y="205740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0000"/>
                </a:solidFill>
              </a:rPr>
              <a:t>Official team number + digital resources</a:t>
            </a:r>
          </a:p>
        </p:txBody>
      </p:sp>
      <p:sp>
        <p:nvSpPr>
          <p:cNvPr id="16" name="Shape 14"/>
          <p:cNvSpPr/>
          <p:nvPr/>
        </p:nvSpPr>
        <p:spPr>
          <a:xfrm>
            <a:off x="685800" y="2606040"/>
            <a:ext cx="914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49808" y="271576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</a:rPr>
              <a:t>Required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874520" y="2606040"/>
            <a:ext cx="2179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938528" y="2715768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0000"/>
                </a:solidFill>
              </a:rPr>
              <a:t>BIOGLOW Founders Challenge Set</a:t>
            </a:r>
          </a:p>
        </p:txBody>
      </p:sp>
      <p:sp>
        <p:nvSpPr>
          <p:cNvPr id="20" name="Shape 18"/>
          <p:cNvSpPr/>
          <p:nvPr/>
        </p:nvSpPr>
        <p:spPr>
          <a:xfrm>
            <a:off x="4274820" y="2606040"/>
            <a:ext cx="68885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361688" y="271576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</a:rPr>
              <a:t>$105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212080" y="260604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276088" y="271576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0000"/>
                </a:solidFill>
              </a:rPr>
              <a:t>Mission mat and models</a:t>
            </a:r>
          </a:p>
        </p:txBody>
      </p:sp>
      <p:sp>
        <p:nvSpPr>
          <p:cNvPr id="24" name="Shape 22"/>
          <p:cNvSpPr/>
          <p:nvPr/>
        </p:nvSpPr>
        <p:spPr>
          <a:xfrm>
            <a:off x="685800" y="3264408"/>
            <a:ext cx="914400" cy="530352"/>
          </a:xfrm>
          <a:prstGeom prst="rect">
            <a:avLst/>
          </a:prstGeom>
          <a:solidFill>
            <a:srgbClr val="FFF5DA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49808" y="337413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</a:rPr>
              <a:t>Required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874520" y="3264408"/>
            <a:ext cx="2179320" cy="530352"/>
          </a:xfrm>
          <a:prstGeom prst="rect">
            <a:avLst/>
          </a:prstGeom>
          <a:solidFill>
            <a:srgbClr val="FFF5DA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938528" y="3374136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0000"/>
                </a:solidFill>
              </a:rPr>
              <a:t>NorCal / local tournament fee</a:t>
            </a:r>
          </a:p>
        </p:txBody>
      </p:sp>
      <p:sp>
        <p:nvSpPr>
          <p:cNvPr id="28" name="Shape 26"/>
          <p:cNvSpPr/>
          <p:nvPr/>
        </p:nvSpPr>
        <p:spPr>
          <a:xfrm>
            <a:off x="4274820" y="3264408"/>
            <a:ext cx="688850" cy="530352"/>
          </a:xfrm>
          <a:prstGeom prst="rect">
            <a:avLst/>
          </a:prstGeom>
          <a:solidFill>
            <a:srgbClr val="FFF5DA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302250" y="339242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</a:rPr>
              <a:t> $375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212080" y="3264408"/>
            <a:ext cx="3840480" cy="530352"/>
          </a:xfrm>
          <a:prstGeom prst="rect">
            <a:avLst/>
          </a:prstGeom>
          <a:solidFill>
            <a:srgbClr val="FFF5DA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276088" y="337413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0000"/>
                </a:solidFill>
              </a:rPr>
              <a:t>Cost of tournament varies</a:t>
            </a:r>
          </a:p>
        </p:txBody>
      </p:sp>
      <p:sp>
        <p:nvSpPr>
          <p:cNvPr id="32" name="Shape 30"/>
          <p:cNvSpPr/>
          <p:nvPr/>
        </p:nvSpPr>
        <p:spPr>
          <a:xfrm>
            <a:off x="685800" y="3922776"/>
            <a:ext cx="914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749808" y="403250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4">
                    <a:lumMod val="75000"/>
                  </a:schemeClr>
                </a:solidFill>
              </a:rPr>
              <a:t>Likely</a:t>
            </a:r>
            <a:endParaRPr lang="en-US" sz="105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874520" y="3922776"/>
            <a:ext cx="2179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938528" y="4032504"/>
            <a:ext cx="2031492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accent4">
                    <a:lumMod val="75000"/>
                  </a:schemeClr>
                </a:solidFill>
              </a:rPr>
              <a:t>Spare parts, table supplies, printing, volunteer registration</a:t>
            </a:r>
          </a:p>
        </p:txBody>
      </p:sp>
      <p:sp>
        <p:nvSpPr>
          <p:cNvPr id="36" name="Shape 34"/>
          <p:cNvSpPr/>
          <p:nvPr/>
        </p:nvSpPr>
        <p:spPr>
          <a:xfrm>
            <a:off x="4274820" y="3922776"/>
            <a:ext cx="68885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338828" y="403250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4">
                    <a:lumMod val="75000"/>
                  </a:schemeClr>
                </a:solidFill>
              </a:rPr>
              <a:t>$50–$150</a:t>
            </a:r>
            <a:endParaRPr lang="en-US" sz="105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212080" y="3922776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5276088" y="4032504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accent4">
                    <a:lumMod val="75000"/>
                  </a:schemeClr>
                </a:solidFill>
              </a:rPr>
              <a:t>LEGO challenge table to build/ buy, Livescan for parent volunteer, Parts reuse what we already have</a:t>
            </a:r>
          </a:p>
        </p:txBody>
      </p:sp>
      <p:sp>
        <p:nvSpPr>
          <p:cNvPr id="40" name="Shape 38"/>
          <p:cNvSpPr/>
          <p:nvPr/>
        </p:nvSpPr>
        <p:spPr>
          <a:xfrm>
            <a:off x="685800" y="4581144"/>
            <a:ext cx="914400" cy="530352"/>
          </a:xfrm>
          <a:prstGeom prst="rect">
            <a:avLst/>
          </a:prstGeom>
          <a:solidFill>
            <a:srgbClr val="FFF5DA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749808" y="469087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3352A"/>
                </a:solidFill>
              </a:rPr>
              <a:t>Optional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874520" y="4581144"/>
            <a:ext cx="2179320" cy="530352"/>
          </a:xfrm>
          <a:prstGeom prst="rect">
            <a:avLst/>
          </a:prstGeom>
          <a:solidFill>
            <a:srgbClr val="FFF5DA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1938528" y="4690872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3352A"/>
                </a:solidFill>
              </a:rPr>
              <a:t>Team shirts / field-trip / props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274820" y="4581144"/>
            <a:ext cx="688850" cy="530352"/>
          </a:xfrm>
          <a:prstGeom prst="rect">
            <a:avLst/>
          </a:prstGeom>
          <a:solidFill>
            <a:srgbClr val="FFF5DA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361688" y="46908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</a:rPr>
              <a:t>TBD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212080" y="4581144"/>
            <a:ext cx="3840480" cy="530352"/>
          </a:xfrm>
          <a:prstGeom prst="rect">
            <a:avLst/>
          </a:prstGeom>
          <a:solidFill>
            <a:srgbClr val="FFF5DA"/>
          </a:solidFill>
          <a:ln w="12700">
            <a:solidFill>
              <a:srgbClr val="E7D6A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5276088" y="4690872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3352A"/>
                </a:solidFill>
              </a:rPr>
              <a:t>Not mandatory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96112" y="5440680"/>
            <a:ext cx="10241280" cy="457200"/>
          </a:xfrm>
          <a:prstGeom prst="roundRect">
            <a:avLst>
              <a:gd name="adj" fmla="val 16000"/>
            </a:avLst>
          </a:prstGeom>
          <a:solidFill>
            <a:srgbClr val="E9F3E5"/>
          </a:solidFill>
          <a:ln w="12700">
            <a:solidFill>
              <a:srgbClr val="A3B18A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1078992" y="5577840"/>
            <a:ext cx="9875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</a:rPr>
              <a:t>Can use split-wise like previous years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21792" y="6144768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56B"/>
                </a:solidFill>
              </a:rPr>
              <a:t>Sources: FIRST Cost &amp; Registration; local event availability and fees vary by Program Delivery Partner.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56B"/>
                </a:solidFill>
              </a:rPr>
              <a:t>BIOGLOW Founders Edition • Parent Kickoff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33856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4332"/>
                </a:solidFill>
              </a:rPr>
              <a:t>05</a:t>
            </a:r>
            <a:endParaRPr lang="en-US" sz="8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965F1C19-456C-2E08-31D7-3B9691E55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0970" y="1283208"/>
            <a:ext cx="1522116" cy="200355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5B4A0AC-F8A3-FF15-18F8-8E9A08A67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0970" y="3231896"/>
            <a:ext cx="1522116" cy="20035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</a:rPr>
              <a:t>Adult coach and parent responsibilities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56B"/>
                </a:solidFill>
              </a:rPr>
              <a:t>Support the process; do not solve the season for the kids</a:t>
            </a:r>
            <a:endParaRPr lang="en-US" sz="1150" dirty="0"/>
          </a:p>
        </p:txBody>
      </p:sp>
      <p:pic>
        <p:nvPicPr>
          <p:cNvPr id="4" name="Image 0" descr="/mnt/data/workshop_vert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078992"/>
            <a:ext cx="4892040" cy="5166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1417320"/>
            <a:ext cx="109728" cy="4572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96012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</a:rPr>
              <a:t>Head coach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154680" y="1435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3352A"/>
                </a:solidFill>
              </a:rPr>
              <a:t>Season plan, rules, safety, parent communication, meeting flow</a:t>
            </a:r>
            <a:endParaRPr lang="en-US" sz="1010" dirty="0"/>
          </a:p>
        </p:txBody>
      </p:sp>
      <p:sp>
        <p:nvSpPr>
          <p:cNvPr id="8" name="Shape 5"/>
          <p:cNvSpPr/>
          <p:nvPr/>
        </p:nvSpPr>
        <p:spPr>
          <a:xfrm>
            <a:off x="713232" y="2258568"/>
            <a:ext cx="109728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960120" y="2258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</a:rPr>
              <a:t>Assistant coach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154680" y="22768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3352A"/>
                </a:solidFill>
              </a:rPr>
              <a:t>Backup adult, materials, timekeeping, child engagement</a:t>
            </a:r>
            <a:endParaRPr lang="en-US" sz="1010" dirty="0"/>
          </a:p>
        </p:txBody>
      </p:sp>
      <p:sp>
        <p:nvSpPr>
          <p:cNvPr id="11" name="Shape 8"/>
          <p:cNvSpPr/>
          <p:nvPr/>
        </p:nvSpPr>
        <p:spPr>
          <a:xfrm>
            <a:off x="713232" y="3099816"/>
            <a:ext cx="109728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960120" y="3099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</a:rPr>
              <a:t>Parent volunteers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3154680" y="3118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3352A"/>
                </a:solidFill>
              </a:rPr>
              <a:t>Snacks, transport, field setup, expert contacts, photos</a:t>
            </a:r>
            <a:endParaRPr lang="en-US" sz="1010" dirty="0"/>
          </a:p>
        </p:txBody>
      </p:sp>
      <p:sp>
        <p:nvSpPr>
          <p:cNvPr id="14" name="Shape 11"/>
          <p:cNvSpPr/>
          <p:nvPr/>
        </p:nvSpPr>
        <p:spPr>
          <a:xfrm>
            <a:off x="713232" y="3941064"/>
            <a:ext cx="109728" cy="4572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960120" y="39410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</a:rPr>
              <a:t>All adults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3154680" y="3959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3352A"/>
                </a:solidFill>
              </a:rPr>
              <a:t>Ask questions, encourage testing, let kids make final decisions</a:t>
            </a:r>
            <a:endParaRPr lang="en-US" sz="1010" dirty="0"/>
          </a:p>
        </p:txBody>
      </p:sp>
      <p:sp>
        <p:nvSpPr>
          <p:cNvPr id="17" name="Shape 14"/>
          <p:cNvSpPr/>
          <p:nvPr/>
        </p:nvSpPr>
        <p:spPr>
          <a:xfrm>
            <a:off x="914400" y="5120640"/>
            <a:ext cx="5074920" cy="585216"/>
          </a:xfrm>
          <a:prstGeom prst="roundRect">
            <a:avLst>
              <a:gd name="adj" fmla="val 12500"/>
            </a:avLst>
          </a:prstGeom>
          <a:solidFill>
            <a:srgbClr val="E9F3E5"/>
          </a:solidFill>
          <a:ln w="12700">
            <a:solidFill>
              <a:srgbClr val="A3B18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115568" y="5321808"/>
            <a:ext cx="4681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</a:rPr>
              <a:t>Parent ask: each family helps with at least one logistics job or expert/project connection.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56B"/>
                </a:solidFill>
              </a:rPr>
              <a:t>BIOGLOW Founders Edition • Parent Kickoff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33856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4332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</a:rPr>
              <a:t>Student roles for a 5-kid Founders team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56B"/>
                </a:solidFill>
              </a:rPr>
              <a:t>Role ownership rotates; everyone must understand robot, project, and Core Values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301752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9050">
            <a:solidFill>
              <a:srgbClr val="3A86FF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33272" y="1728216"/>
            <a:ext cx="585216" cy="585216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33272" y="186537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7099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</a:rPr>
              <a:t>Navigation Lead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737360" y="203911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3352A"/>
                </a:solidFill>
              </a:rPr>
              <a:t>Routes, launch positions, gyro turns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1508760"/>
            <a:ext cx="301752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9050">
            <a:solidFill>
              <a:srgbClr val="2A9D8F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690872" y="1728216"/>
            <a:ext cx="585216" cy="5852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90872" y="186537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7099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</a:rPr>
              <a:t>Mechanical Lead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394960" y="203911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3352A"/>
                </a:solidFill>
              </a:rPr>
              <a:t>Chassis, attachments, gears, strength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83880" y="1508760"/>
            <a:ext cx="301752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9050">
            <a:solidFill>
              <a:srgbClr val="F4B400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348472" y="1728216"/>
            <a:ext cx="585216" cy="585216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348472" y="186537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52560" y="17099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</a:rPr>
              <a:t>Mission Strategy Lead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052560" y="203911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3352A"/>
                </a:solidFill>
              </a:rPr>
              <a:t>Scoring, route grouping, timing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48840" y="3822192"/>
            <a:ext cx="338328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9050">
            <a:solidFill>
              <a:srgbClr val="E76F51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313432" y="4041648"/>
            <a:ext cx="585216" cy="58521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313432" y="417880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17520" y="40233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</a:rPr>
              <a:t>Innovation Lead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017520" y="43525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3352A"/>
                </a:solidFill>
              </a:rPr>
              <a:t>Biodiversity problem, interviews, prototype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3822192"/>
            <a:ext cx="338328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9050">
            <a:solidFill>
              <a:srgbClr val="8E44AD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291072" y="4041648"/>
            <a:ext cx="585216" cy="5852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291072" y="417880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40233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</a:rPr>
              <a:t>Communication Lead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95160" y="43525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3352A"/>
                </a:solidFill>
              </a:rPr>
              <a:t>Notebook, presentation, Core Values evidence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06040" y="5257800"/>
            <a:ext cx="6995160" cy="493776"/>
          </a:xfrm>
          <a:prstGeom prst="roundRect">
            <a:avLst>
              <a:gd name="adj" fmla="val 14815"/>
            </a:avLst>
          </a:prstGeom>
          <a:solidFill>
            <a:srgbClr val="ECF4E7"/>
          </a:solidFill>
          <a:ln w="12700">
            <a:solidFill>
              <a:srgbClr val="A3B18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834640" y="5422392"/>
            <a:ext cx="6537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B4332"/>
                </a:solidFill>
              </a:rPr>
              <a:t>Practice rotation: every child owns one robot run and one project/presentation contribution.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56B"/>
                </a:solidFill>
              </a:rPr>
              <a:t>BIOGLOW Founders Edition • Parent Kickoff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4332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</a:rPr>
              <a:t>Logistics to decide today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56B"/>
                </a:solidFill>
              </a:rPr>
              <a:t>Small choices now prevent big friction later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Meetings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755648"/>
            <a:ext cx="283464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13816" y="192024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Weekly day/time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Location and table access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Arrival/pickup buffer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480560" y="1417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Communication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755648"/>
            <a:ext cx="283464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17136" y="192024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Parent chat group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Shared folder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One weekly summary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8183880" y="1417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Materials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83880" y="1755648"/>
            <a:ext cx="283464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0456" y="192024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SPIKE hub + charger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Parts bins + labels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Notebook + photos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Safety &amp; conduct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767328"/>
            <a:ext cx="2834640" cy="0"/>
          </a:xfrm>
          <a:prstGeom prst="line">
            <a:avLst/>
          </a:prstGeom>
          <a:noFill/>
          <a:ln w="25400">
            <a:solidFill>
              <a:srgbClr val="8E44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13816" y="393192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Two-adult coverage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Food/allergy notes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Respectful teamwork rules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4480560" y="34290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Tournament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480560" y="3767328"/>
            <a:ext cx="2834640" cy="0"/>
          </a:xfrm>
          <a:prstGeom prst="line">
            <a:avLst/>
          </a:prstGeom>
          <a:noFill/>
          <a:ln w="25400">
            <a:solidFill>
              <a:srgbClr val="A3B1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17136" y="393192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Registration owner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Transport plan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Backup laptop/programs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8183880" y="34290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Project help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83880" y="3767328"/>
            <a:ext cx="2834640" cy="0"/>
          </a:xfrm>
          <a:prstGeom prst="line">
            <a:avLst/>
          </a:prstGeom>
          <a:noFill/>
          <a:ln w="25400">
            <a:solidFill>
              <a:srgbClr val="3A8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220456" y="393192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Expert contacts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Field trip ideas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• Prototype supplies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2194560" y="5559552"/>
            <a:ext cx="7726680" cy="429768"/>
          </a:xfrm>
          <a:prstGeom prst="roundRect">
            <a:avLst>
              <a:gd name="adj" fmla="val 17021"/>
            </a:avLst>
          </a:prstGeom>
          <a:solidFill>
            <a:srgbClr val="FFF2CC"/>
          </a:solidFill>
          <a:ln w="12700">
            <a:solidFill>
              <a:srgbClr val="F4B400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2450592" y="569671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</a:rPr>
              <a:t>Make commitments visible: who owns what, by when, and where updates live.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56B"/>
                </a:solidFill>
              </a:rPr>
              <a:t>BIOGLOW Founders Edition • Parent Kickoff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4332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5038"/>
                </a:solidFill>
              </a:rPr>
              <a:t>FLL practice table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87782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2675C"/>
                </a:solidFill>
              </a:rPr>
              <a:t>Buying/building, storage, and how we use the field during meetings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337560" cy="1828800"/>
          </a:xfrm>
          <a:prstGeom prst="roundRect">
            <a:avLst/>
          </a:prstGeom>
          <a:solidFill>
            <a:srgbClr val="EAF5E2"/>
          </a:solidFill>
          <a:ln w="11430">
            <a:solidFill>
              <a:srgbClr val="259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28016" bIns="91440" rtlCol="0" anchor="ctr"/>
          <a:lstStyle/>
          <a:p>
            <a:pPr algn="ctr"/>
            <a:r>
              <a:rPr sz="1200" b="1">
                <a:solidFill>
                  <a:srgbClr val="0F5038"/>
                </a:solidFill>
              </a:rPr>
              <a:t>Option A: DIY rigid table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Best field consistency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4×8 plywood surface with border walls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Heavy; needs garage or dedicated space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Good if one family can host most practices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143000"/>
            <a:ext cx="3337560" cy="1828800"/>
          </a:xfrm>
          <a:prstGeom prst="roundRect">
            <a:avLst/>
          </a:prstGeom>
          <a:solidFill>
            <a:srgbClr val="FFF8DA"/>
          </a:solidFill>
          <a:ln w="11430">
            <a:solidFill>
              <a:srgbClr val="F4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28016" bIns="91440" rtlCol="0" anchor="ctr"/>
          <a:lstStyle/>
          <a:p>
            <a:pPr algn="ctr"/>
            <a:r>
              <a:rPr sz="1200" b="1">
                <a:solidFill>
                  <a:srgbClr val="0F5038"/>
                </a:solidFill>
              </a:rPr>
              <a:t>Option B: folding / portable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Easier to store and move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Good for shared hosting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Must stay flat and stable during runs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More setup/teardown time each meeting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143000"/>
            <a:ext cx="3337560" cy="1828800"/>
          </a:xfrm>
          <a:prstGeom prst="roundRect">
            <a:avLst/>
          </a:prstGeom>
          <a:solidFill>
            <a:srgbClr val="E9F6FD"/>
          </a:solidFill>
          <a:ln w="11430">
            <a:solidFill>
              <a:srgbClr val="439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28016" bIns="91440" rtlCol="0" anchor="ctr"/>
          <a:lstStyle/>
          <a:p>
            <a:pPr algn="ctr"/>
            <a:r>
              <a:rPr sz="1200" b="1">
                <a:solidFill>
                  <a:srgbClr val="0F5038"/>
                </a:solidFill>
              </a:rPr>
              <a:t>Option C: floor first, table later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Fastest opening-week start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Okay for model building and early coding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Less like tournament height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Upgrade before precision run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37560"/>
            <a:ext cx="5074920" cy="1508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28016" bIns="91440" rtlCol="0" anchor="ctr"/>
          <a:lstStyle/>
          <a:p>
            <a:pPr algn="ctr"/>
            <a:r>
              <a:rPr sz="1200" b="1">
                <a:solidFill>
                  <a:srgbClr val="0F5038"/>
                </a:solidFill>
              </a:rPr>
              <a:t>Target field specs to match official practice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Inside wall-to-wall area: 93 ± 1/8 in × 45 ± 1/8 in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Border wall height range: about 2½–3 15/16 in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Use 2×3 walls if possible; tournament wall heights can vary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Keep the surface smooth, clean, level, and free of crumbs/dust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3337560"/>
            <a:ext cx="5074920" cy="1508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28016" bIns="91440" rtlCol="0" anchor="ctr"/>
          <a:lstStyle/>
          <a:p>
            <a:pPr algn="ctr"/>
            <a:r>
              <a:rPr sz="1200" b="1">
                <a:solidFill>
                  <a:srgbClr val="0F5038"/>
                </a:solidFill>
              </a:rPr>
              <a:t>Meeting logistics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Assign one table owner and one setup/checklist owner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Store mission models in labeled bins by bag/mission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Photograph model positions before teardown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Protect the mat; avoid kinks, spills, heat, and sharp bends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5230368"/>
            <a:ext cx="411480" cy="411480"/>
          </a:xfrm>
          <a:prstGeom prst="ellipse">
            <a:avLst/>
          </a:prstGeom>
          <a:solidFill>
            <a:srgbClr val="259C8D"/>
          </a:solidFill>
          <a:ln>
            <a:solidFill>
              <a:srgbClr val="259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527608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5038"/>
                </a:solidFill>
              </a:rPr>
              <a:t>Setup</a:t>
            </a:r>
          </a:p>
        </p:txBody>
      </p:sp>
      <p:sp>
        <p:nvSpPr>
          <p:cNvPr id="11" name="Oval 10"/>
          <p:cNvSpPr/>
          <p:nvPr/>
        </p:nvSpPr>
        <p:spPr>
          <a:xfrm>
            <a:off x="2971800" y="5230368"/>
            <a:ext cx="411480" cy="411480"/>
          </a:xfrm>
          <a:prstGeom prst="ellipse">
            <a:avLst/>
          </a:prstGeom>
          <a:solidFill>
            <a:srgbClr val="F4B000"/>
          </a:solidFill>
          <a:ln>
            <a:solidFill>
              <a:srgbClr val="F4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27608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5038"/>
                </a:solidFill>
              </a:rPr>
              <a:t>Calibrate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5230368"/>
            <a:ext cx="411480" cy="411480"/>
          </a:xfrm>
          <a:prstGeom prst="ellipse">
            <a:avLst/>
          </a:prstGeom>
          <a:solidFill>
            <a:srgbClr val="E8674E"/>
          </a:solidFill>
          <a:ln>
            <a:solidFill>
              <a:srgbClr val="E86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527608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5038"/>
                </a:solidFill>
              </a:rPr>
              <a:t>Run tests</a:t>
            </a:r>
          </a:p>
        </p:txBody>
      </p:sp>
      <p:sp>
        <p:nvSpPr>
          <p:cNvPr id="15" name="Oval 14"/>
          <p:cNvSpPr/>
          <p:nvPr/>
        </p:nvSpPr>
        <p:spPr>
          <a:xfrm>
            <a:off x="7086600" y="5230368"/>
            <a:ext cx="411480" cy="411480"/>
          </a:xfrm>
          <a:prstGeom prst="ellipse">
            <a:avLst/>
          </a:prstGeom>
          <a:solidFill>
            <a:srgbClr val="8049B4"/>
          </a:solidFill>
          <a:ln>
            <a:solidFill>
              <a:srgbClr val="804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27608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5038"/>
                </a:solidFill>
              </a:rPr>
              <a:t>Record data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0" y="5230368"/>
            <a:ext cx="411480" cy="411480"/>
          </a:xfrm>
          <a:prstGeom prst="ellipse">
            <a:avLst/>
          </a:prstGeom>
          <a:solidFill>
            <a:srgbClr val="0F5038"/>
          </a:solidFill>
          <a:ln>
            <a:solidFill>
              <a:srgbClr val="0F5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527608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5038"/>
                </a:solidFill>
              </a:rPr>
              <a:t>Pack cleanly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8932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>
                <a:solidFill>
                  <a:srgbClr val="52675C"/>
                </a:solidFill>
              </a:rPr>
              <a:t>Reference for dimensions: official FLL Challenge Robot Game table-building instructions; verify against the current BIOGLOW rulebook after release.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">
                <a:solidFill>
                  <a:srgbClr val="52675C"/>
                </a:solidFill>
              </a:rPr>
              <a:t>BIOGLOW Founders Edition • Parent Kickoff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>
                <a:solidFill>
                  <a:srgbClr val="0F5038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</a:rPr>
              <a:t>High-level goals for each phase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56B"/>
                </a:solidFill>
              </a:rPr>
              <a:t>We measure progress by ownership, testing, and reliability—not one lucky high score</a:t>
            </a:r>
            <a:endParaRPr lang="en-US" sz="1150" dirty="0"/>
          </a:p>
        </p:txBody>
      </p:sp>
      <p:pic>
        <p:nvPicPr>
          <p:cNvPr id="4" name="Image 0" descr="/mnt/data/roadmap_wid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1328"/>
            <a:ext cx="12188952" cy="44256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" y="2249424"/>
            <a:ext cx="2377440" cy="1901952"/>
          </a:xfrm>
          <a:prstGeom prst="roundRect">
            <a:avLst>
              <a:gd name="adj" fmla="val 4808"/>
            </a:avLst>
          </a:prstGeom>
          <a:solidFill>
            <a:srgbClr val="FFF8E7">
              <a:alpha val="94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978408" y="2496312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F4B400"/>
          </a:solidFill>
          <a:ln w="12700">
            <a:solidFill>
              <a:srgbClr val="F4B4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51560" y="2578608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August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" y="2980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4332"/>
                </a:solidFill>
              </a:rPr>
              <a:t>Understand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78408" y="33924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23352A"/>
                </a:solidFill>
              </a:rPr>
              <a:t>Build models, read rules, rank missions, explore biodiversity problems</a:t>
            </a:r>
            <a:endParaRPr lang="en-US" sz="910" dirty="0"/>
          </a:p>
        </p:txBody>
      </p:sp>
      <p:sp>
        <p:nvSpPr>
          <p:cNvPr id="10" name="Shape 7"/>
          <p:cNvSpPr/>
          <p:nvPr/>
        </p:nvSpPr>
        <p:spPr>
          <a:xfrm>
            <a:off x="3602736" y="2249424"/>
            <a:ext cx="2377440" cy="1901952"/>
          </a:xfrm>
          <a:prstGeom prst="roundRect">
            <a:avLst>
              <a:gd name="adj" fmla="val 4808"/>
            </a:avLst>
          </a:prstGeom>
          <a:solidFill>
            <a:srgbClr val="FFF8E7">
              <a:alpha val="94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831336" y="2496312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3904488" y="2578608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September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831336" y="2980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4332"/>
                </a:solidFill>
              </a:rPr>
              <a:t>Build basics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831336" y="33924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23352A"/>
                </a:solidFill>
              </a:rPr>
              <a:t>Stable chassis, first attachments, select Innovation Project problem</a:t>
            </a:r>
            <a:endParaRPr lang="en-US" sz="910" dirty="0"/>
          </a:p>
        </p:txBody>
      </p:sp>
      <p:sp>
        <p:nvSpPr>
          <p:cNvPr id="15" name="Shape 12"/>
          <p:cNvSpPr/>
          <p:nvPr/>
        </p:nvSpPr>
        <p:spPr>
          <a:xfrm>
            <a:off x="6455664" y="2249424"/>
            <a:ext cx="2377440" cy="1901952"/>
          </a:xfrm>
          <a:prstGeom prst="roundRect">
            <a:avLst>
              <a:gd name="adj" fmla="val 4808"/>
            </a:avLst>
          </a:prstGeom>
          <a:solidFill>
            <a:srgbClr val="FFF8E7">
              <a:alpha val="94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6684264" y="2496312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7" name="Text 14"/>
          <p:cNvSpPr/>
          <p:nvPr/>
        </p:nvSpPr>
        <p:spPr>
          <a:xfrm>
            <a:off x="6757416" y="2578608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October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684264" y="2980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4332"/>
                </a:solidFill>
              </a:rPr>
              <a:t>Test + improve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684264" y="33924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10" dirty="0">
                <a:solidFill>
                  <a:srgbClr val="23352A"/>
                </a:solidFill>
              </a:rPr>
              <a:t>Short mission runs, field-trip + expert feedback, prototype iteration, Innovation project finish</a:t>
            </a:r>
            <a:endParaRPr lang="en-US" sz="910" dirty="0"/>
          </a:p>
        </p:txBody>
      </p:sp>
      <p:sp>
        <p:nvSpPr>
          <p:cNvPr id="20" name="Shape 17"/>
          <p:cNvSpPr/>
          <p:nvPr/>
        </p:nvSpPr>
        <p:spPr>
          <a:xfrm>
            <a:off x="9308592" y="2249424"/>
            <a:ext cx="2377440" cy="1901952"/>
          </a:xfrm>
          <a:prstGeom prst="roundRect">
            <a:avLst>
              <a:gd name="adj" fmla="val 4808"/>
            </a:avLst>
          </a:prstGeom>
          <a:solidFill>
            <a:srgbClr val="FFF8E7">
              <a:alpha val="94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9537192" y="2496312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9610344" y="2578608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November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537192" y="2980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4332"/>
                </a:solidFill>
              </a:rPr>
              <a:t>Prep for tournament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537192" y="33924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23352A"/>
                </a:solidFill>
              </a:rPr>
              <a:t>Full matches, judging practice, freeze major changes</a:t>
            </a:r>
            <a:endParaRPr lang="en-US" sz="910" dirty="0"/>
          </a:p>
        </p:txBody>
      </p:sp>
      <p:sp>
        <p:nvSpPr>
          <p:cNvPr id="25" name="Text 22"/>
          <p:cNvSpPr/>
          <p:nvPr/>
        </p:nvSpPr>
        <p:spPr>
          <a:xfrm>
            <a:off x="1143000" y="59893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4332"/>
                </a:solidFill>
              </a:rPr>
              <a:t>Target: by tournament day, all 5 students can explain the robot, project, failures, and teamwork story.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56B"/>
                </a:solidFill>
              </a:rPr>
              <a:t>BIOGLOW Founders Edition • Parent Kickoff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133856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4332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</a:rPr>
              <a:t>Next steps and source links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56B"/>
                </a:solidFill>
              </a:rPr>
              <a:t>After the official release, we turn this into a detailed mission plan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2345436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</a:rPr>
              <a:t>Aug 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029968" y="2345436"/>
            <a:ext cx="8961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dirty="0">
                <a:solidFill>
                  <a:srgbClr val="23352A"/>
                </a:solidFill>
              </a:rPr>
              <a:t>Watch official launch of FLL season online, assign initial roles</a:t>
            </a:r>
            <a:endParaRPr lang="en-US" sz="1180" dirty="0"/>
          </a:p>
        </p:txBody>
      </p:sp>
      <p:sp>
        <p:nvSpPr>
          <p:cNvPr id="6" name="Text 4"/>
          <p:cNvSpPr/>
          <p:nvPr/>
        </p:nvSpPr>
        <p:spPr>
          <a:xfrm>
            <a:off x="749808" y="2734056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</a:rPr>
              <a:t>Week 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029968" y="2734056"/>
            <a:ext cx="8961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dirty="0">
                <a:solidFill>
                  <a:srgbClr val="23352A"/>
                </a:solidFill>
              </a:rPr>
              <a:t>Collect material, books, assemble LEGO table, share website with team for planning / tracking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749808" y="3131820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</a:rPr>
              <a:t>Week 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029968" y="3131820"/>
            <a:ext cx="8961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dirty="0">
                <a:solidFill>
                  <a:srgbClr val="23352A"/>
                </a:solidFill>
              </a:rPr>
              <a:t>Build main model, and mission models and attachments; create mission scoring matrix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787908" y="3803904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</a:rPr>
              <a:t>After rules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068068" y="3803904"/>
            <a:ext cx="8961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Create run plan, attachment plan, judging script, and parent schedule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749808" y="4251960"/>
            <a:ext cx="10789920" cy="1207008"/>
          </a:xfrm>
          <a:prstGeom prst="roundRect">
            <a:avLst>
              <a:gd name="adj" fmla="val 6061"/>
            </a:avLst>
          </a:prstGeom>
          <a:solidFill>
            <a:srgbClr val="FFFBEE"/>
          </a:solidFill>
          <a:ln w="12700">
            <a:solidFill>
              <a:srgbClr val="F4B400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60120" y="44622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</a:rPr>
              <a:t>References used for official facts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480060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3352A"/>
                </a:solidFill>
                <a:hlinkClick r:id="rId3"/>
              </a:rPr>
              <a:t>FirstInspires Dashboard </a:t>
            </a:r>
            <a:r>
              <a:rPr lang="en-US" sz="1050" dirty="0">
                <a:solidFill>
                  <a:srgbClr val="23352A"/>
                </a:solidFill>
              </a:rPr>
              <a:t>• </a:t>
            </a:r>
            <a:r>
              <a:rPr lang="en-US" sz="1050" dirty="0">
                <a:solidFill>
                  <a:srgbClr val="23352A"/>
                </a:solidFill>
                <a:hlinkClick r:id="rId4"/>
              </a:rPr>
              <a:t>FIRST Cost &amp; Registration </a:t>
            </a:r>
            <a:r>
              <a:rPr lang="en-US" sz="1050" dirty="0">
                <a:solidFill>
                  <a:srgbClr val="23352A"/>
                </a:solidFill>
              </a:rPr>
              <a:t>• </a:t>
            </a:r>
            <a:r>
              <a:rPr lang="en-US" sz="1050" dirty="0">
                <a:solidFill>
                  <a:srgbClr val="23352A"/>
                </a:solidFill>
                <a:hlinkClick r:id="rId5"/>
              </a:rPr>
              <a:t>FIRST LEGO League global overview </a:t>
            </a:r>
            <a:r>
              <a:rPr lang="en-US" sz="1050" dirty="0">
                <a:solidFill>
                  <a:srgbClr val="23352A"/>
                </a:solidFill>
              </a:rPr>
              <a:t>• </a:t>
            </a:r>
            <a:r>
              <a:rPr lang="en-US" sz="1050" dirty="0">
                <a:solidFill>
                  <a:srgbClr val="23352A"/>
                </a:solidFill>
                <a:hlinkClick r:id="rId6"/>
              </a:rPr>
              <a:t>Folsom Fireflies Website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513892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56B"/>
                </a:solidFill>
              </a:rPr>
              <a:t>Reminder: teaser-video mission predictions are not official rules.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56B"/>
                </a:solidFill>
              </a:rPr>
              <a:t>BIOGLOW Founders Edition • Parent Kickoff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4332"/>
                </a:solidFill>
              </a:rPr>
              <a:t>14</a:t>
            </a:r>
            <a:endParaRPr lang="en-US" sz="8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7917E247-8A64-A360-808C-8DBAAB46D2F5}"/>
              </a:ext>
            </a:extLst>
          </p:cNvPr>
          <p:cNvSpPr/>
          <p:nvPr/>
        </p:nvSpPr>
        <p:spPr>
          <a:xfrm>
            <a:off x="749808" y="1954530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</a:rPr>
              <a:t>Today</a:t>
            </a:r>
            <a:endParaRPr lang="en-US" sz="125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91ACA101-C029-8664-3BD7-7D6DEF96DD50}"/>
              </a:ext>
            </a:extLst>
          </p:cNvPr>
          <p:cNvSpPr/>
          <p:nvPr/>
        </p:nvSpPr>
        <p:spPr>
          <a:xfrm>
            <a:off x="2029968" y="1954530"/>
            <a:ext cx="8961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3352A"/>
                </a:solidFill>
              </a:rPr>
              <a:t>Complete registration and order material, decide meeting schedule</a:t>
            </a:r>
            <a:endParaRPr lang="en-US" sz="118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F4A22BAF-43F1-78B5-E40E-CC6FC3D94AF2}"/>
              </a:ext>
            </a:extLst>
          </p:cNvPr>
          <p:cNvSpPr/>
          <p:nvPr/>
        </p:nvSpPr>
        <p:spPr>
          <a:xfrm>
            <a:off x="749808" y="3488436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</a:rPr>
              <a:t>Week 3</a:t>
            </a:r>
            <a:endParaRPr lang="en-US" sz="125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99F21199-D364-448C-4C6D-049014C48F1C}"/>
              </a:ext>
            </a:extLst>
          </p:cNvPr>
          <p:cNvSpPr/>
          <p:nvPr/>
        </p:nvSpPr>
        <p:spPr>
          <a:xfrm>
            <a:off x="2029968" y="3488436"/>
            <a:ext cx="8961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dirty="0">
                <a:solidFill>
                  <a:srgbClr val="23352A"/>
                </a:solidFill>
              </a:rPr>
              <a:t>Confirm student website access and add discussion, trial run on main table, begin project problem discovery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</a:rPr>
              <a:t>What “successful season” means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56B"/>
                </a:solidFill>
              </a:rPr>
              <a:t>A confident, child-owned team beats an adult-polished result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453896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444752" y="1417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Robot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34640" y="1435608"/>
            <a:ext cx="7269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3352A"/>
                </a:solidFill>
              </a:rPr>
              <a:t>4–6 manageable runs; reliable launches; documented fixes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868680" y="2322576"/>
            <a:ext cx="384048" cy="384048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44752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Project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34640" y="2304288"/>
            <a:ext cx="7269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3352A"/>
                </a:solidFill>
              </a:rPr>
              <a:t>Real biodiversity problem; expert feedback; tested prototype</a:t>
            </a:r>
            <a:endParaRPr lang="en-US" sz="1170" dirty="0"/>
          </a:p>
        </p:txBody>
      </p:sp>
      <p:sp>
        <p:nvSpPr>
          <p:cNvPr id="10" name="Shape 8"/>
          <p:cNvSpPr/>
          <p:nvPr/>
        </p:nvSpPr>
        <p:spPr>
          <a:xfrm>
            <a:off x="868680" y="3191256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44752" y="3154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Judging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3172968"/>
            <a:ext cx="7269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3352A"/>
                </a:solidFill>
              </a:rPr>
              <a:t>Every child speaks; evidence of iteration and teamwork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868680" y="4059936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444752" y="4023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Core Values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4640" y="4041648"/>
            <a:ext cx="7269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3352A"/>
                </a:solidFill>
              </a:rPr>
              <a:t>Shared ownership, respectful disagreement, resilient debugging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914400" y="5102352"/>
            <a:ext cx="10378440" cy="685800"/>
          </a:xfrm>
          <a:prstGeom prst="roundRect">
            <a:avLst>
              <a:gd name="adj" fmla="val 10667"/>
            </a:avLst>
          </a:prstGeom>
          <a:solidFill>
            <a:srgbClr val="E9F3E5"/>
          </a:solidFill>
          <a:ln w="12700">
            <a:solidFill>
              <a:srgbClr val="A3B18A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161288" y="534924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332"/>
                </a:solidFill>
              </a:rPr>
              <a:t>Parent decisions today: meeting day/time • budget cap • table plan • logistics owner • communication channel.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56B"/>
                </a:solidFill>
              </a:rPr>
              <a:t>BIOGLOW Founders Edition • Parent Kickoff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4332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5038"/>
                </a:solidFill>
              </a:rPr>
              <a:t>Team setup is now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87782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2675C"/>
                </a:solidFill>
              </a:rPr>
              <a:t>Use these links for parent coordination, FIRST registration, and public season updates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291840" cy="1005840"/>
          </a:xfrm>
          <a:prstGeom prst="roundRect">
            <a:avLst/>
          </a:prstGeom>
          <a:solidFill>
            <a:srgbClr val="FFF8DA"/>
          </a:solidFill>
          <a:ln w="12700">
            <a:solidFill>
              <a:srgbClr val="F4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ctr"/>
            <a:r>
              <a:rPr sz="1200" b="1" dirty="0">
                <a:solidFill>
                  <a:srgbClr val="0F5038"/>
                </a:solidFill>
              </a:rPr>
              <a:t>Team name</a:t>
            </a:r>
          </a:p>
          <a:p>
            <a:pPr>
              <a:spcBef>
                <a:spcPts val="500"/>
              </a:spcBef>
            </a:pPr>
            <a:endParaRPr sz="1600" dirty="0">
              <a:solidFill>
                <a:srgbClr val="52675C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2542032"/>
            <a:ext cx="3291840" cy="1005840"/>
          </a:xfrm>
          <a:prstGeom prst="roundRect">
            <a:avLst/>
          </a:prstGeom>
          <a:solidFill>
            <a:srgbClr val="EAF5E2"/>
          </a:solidFill>
          <a:ln w="12700">
            <a:solidFill>
              <a:srgbClr val="259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ctr"/>
            <a:r>
              <a:rPr sz="1200" b="1" dirty="0">
                <a:solidFill>
                  <a:srgbClr val="0F5038"/>
                </a:solidFill>
              </a:rPr>
              <a:t>Public website</a:t>
            </a:r>
          </a:p>
          <a:p>
            <a:pPr>
              <a:spcBef>
                <a:spcPts val="500"/>
              </a:spcBef>
            </a:pPr>
            <a:r>
              <a:rPr sz="880" dirty="0">
                <a:solidFill>
                  <a:srgbClr val="52675C"/>
                </a:solidFill>
              </a:rPr>
              <a:t>https://</a:t>
            </a:r>
            <a:r>
              <a:rPr sz="880" dirty="0" err="1">
                <a:solidFill>
                  <a:srgbClr val="52675C"/>
                </a:solidFill>
              </a:rPr>
              <a:t>msriram.github.io</a:t>
            </a:r>
            <a:r>
              <a:rPr sz="880" dirty="0">
                <a:solidFill>
                  <a:srgbClr val="52675C"/>
                </a:solidFill>
              </a:rPr>
              <a:t>/</a:t>
            </a:r>
            <a:r>
              <a:rPr sz="880" dirty="0" err="1">
                <a:solidFill>
                  <a:srgbClr val="52675C"/>
                </a:solidFill>
              </a:rPr>
              <a:t>folsom</a:t>
            </a:r>
            <a:r>
              <a:rPr sz="880" dirty="0">
                <a:solidFill>
                  <a:srgbClr val="52675C"/>
                </a:solidFill>
              </a:rPr>
              <a:t>-fireflies/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58184"/>
            <a:ext cx="3291840" cy="1005840"/>
          </a:xfrm>
          <a:prstGeom prst="roundRect">
            <a:avLst/>
          </a:prstGeom>
          <a:solidFill>
            <a:srgbClr val="E9F6FD"/>
          </a:solidFill>
          <a:ln w="12700">
            <a:solidFill>
              <a:srgbClr val="439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ctr"/>
            <a:r>
              <a:rPr sz="1200" b="1">
                <a:solidFill>
                  <a:srgbClr val="0F5038"/>
                </a:solidFill>
              </a:rPr>
              <a:t>FIRST dashboard</a:t>
            </a:r>
          </a:p>
          <a:p>
            <a:pPr>
              <a:spcBef>
                <a:spcPts val="500"/>
              </a:spcBef>
            </a:pPr>
            <a:r>
              <a:rPr sz="880">
                <a:solidFill>
                  <a:srgbClr val="52675C"/>
                </a:solidFill>
              </a:rPr>
              <a:t>Team Profile ID: 1818412
Coach/admin access required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2461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28016" bIns="91440" rtlCol="0" anchor="ctr"/>
          <a:lstStyle/>
          <a:p>
            <a:pPr algn="ctr"/>
            <a:r>
              <a:rPr sz="1200" b="1">
                <a:solidFill>
                  <a:srgbClr val="0F5038"/>
                </a:solidFill>
              </a:rPr>
              <a:t>Parent access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Bookmark the website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Use the FIRST dashboard for official registration items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Keep private details off the public site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234440"/>
            <a:ext cx="333756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28016" bIns="91440" rtlCol="0" anchor="ctr"/>
          <a:lstStyle/>
          <a:p>
            <a:pPr algn="ctr"/>
            <a:r>
              <a:rPr sz="1200" b="1" dirty="0">
                <a:solidFill>
                  <a:srgbClr val="0F5038"/>
                </a:solidFill>
              </a:rPr>
              <a:t>What goes public</a:t>
            </a:r>
          </a:p>
          <a:p>
            <a:pPr>
              <a:spcBef>
                <a:spcPts val="300"/>
              </a:spcBef>
            </a:pPr>
            <a:r>
              <a:rPr sz="880" dirty="0">
                <a:solidFill>
                  <a:srgbClr val="52675C"/>
                </a:solidFill>
              </a:rPr>
              <a:t>• Team story and progress</a:t>
            </a:r>
          </a:p>
          <a:p>
            <a:pPr>
              <a:spcBef>
                <a:spcPts val="300"/>
              </a:spcBef>
            </a:pPr>
            <a:r>
              <a:rPr sz="880" dirty="0">
                <a:solidFill>
                  <a:srgbClr val="52675C"/>
                </a:solidFill>
              </a:rPr>
              <a:t>• Meeting summaries and milestones</a:t>
            </a:r>
          </a:p>
          <a:p>
            <a:pPr>
              <a:spcBef>
                <a:spcPts val="300"/>
              </a:spcBef>
            </a:pPr>
            <a:r>
              <a:rPr sz="880" dirty="0">
                <a:solidFill>
                  <a:srgbClr val="52675C"/>
                </a:solidFill>
              </a:rPr>
              <a:t>• Project evidence without private child info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788920"/>
            <a:ext cx="32461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28016" bIns="91440" rtlCol="0" anchor="ctr"/>
          <a:lstStyle/>
          <a:p>
            <a:pPr algn="ctr"/>
            <a:r>
              <a:rPr sz="1200" b="1">
                <a:solidFill>
                  <a:srgbClr val="0F5038"/>
                </a:solidFill>
              </a:rPr>
              <a:t>What stays private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Children's full names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School schedules and addresses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Parent contact info and exact meeting 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788920"/>
            <a:ext cx="333756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28016" bIns="91440" rtlCol="0" anchor="ctr"/>
          <a:lstStyle/>
          <a:p>
            <a:pPr algn="ctr"/>
            <a:r>
              <a:rPr sz="1200" b="1">
                <a:solidFill>
                  <a:srgbClr val="0F5038"/>
                </a:solidFill>
              </a:rPr>
              <a:t>Next updates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Add official team number when assigned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Add kickoff photos only with parent approval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52675C"/>
                </a:solidFill>
              </a:rPr>
              <a:t>• Post one short journal entry per meetup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257800"/>
            <a:ext cx="10469880" cy="411480"/>
          </a:xfrm>
          <a:prstGeom prst="roundRect">
            <a:avLst/>
          </a:prstGeom>
          <a:solidFill>
            <a:srgbClr val="EAF5E2"/>
          </a:solidFill>
          <a:ln>
            <a:solidFill>
              <a:srgbClr val="D2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5038"/>
                </a:solidFill>
              </a:rPr>
              <a:t>Parent decision: who owns website updates, FIRST dashboard checks, and weekly meeting summaries?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">
                <a:solidFill>
                  <a:srgbClr val="52675C"/>
                </a:solidFill>
              </a:rPr>
              <a:t>BIOGLOW Founders Edition • Parent Kickoff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>
                <a:solidFill>
                  <a:srgbClr val="0F5038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2421</Words>
  <Application>Microsoft Macintosh PowerPoint</Application>
  <PresentationFormat>Widescreen</PresentationFormat>
  <Paragraphs>374</Paragraphs>
  <Slides>17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Folsom Fireflies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FLL BIOGLOW Parent Opening Day</dc:title>
  <dc:subject>FLL BIOGLOW Founders Edition parent opening day discussion</dc:subject>
  <dc:creator>OpenAI</dc:creator>
  <cp:lastModifiedBy>Sriram Murali</cp:lastModifiedBy>
  <cp:revision>3</cp:revision>
  <dcterms:created xsi:type="dcterms:W3CDTF">2026-08-02T22:53:31Z</dcterms:created>
  <dcterms:modified xsi:type="dcterms:W3CDTF">2026-08-03T04:50:13Z</dcterms:modified>
</cp:coreProperties>
</file>